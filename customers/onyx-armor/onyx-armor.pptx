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8FA8"/>
                </a:solidFill>
                <a:latin typeface="Calibri"/>
              </a:defRPr>
            </a:pPr>
            <a:r>
              <a:t>ONYX ARMOR  × 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F4F0"/>
                </a:solidFill>
                <a:latin typeface="Calibri"/>
              </a:defRPr>
            </a:pPr>
            <a:r>
              <a:t>Order Processing</a:t>
            </a:r>
            <a:br/>
            <a:r>
              <a:t>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A8A8"/>
                </a:solidFill>
                <a:latin typeface="Calibri"/>
              </a:defRPr>
            </a:pPr>
            <a:r>
              <a:t>An AI-powered pipeline that turns nightly manual PO entry into a supervised, 15-minute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February 2026  ·  Phase 1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01 //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0"/>
                </a:solidFill>
                <a:latin typeface="Calibri"/>
              </a:defRPr>
            </a:pPr>
            <a:r>
              <a:t>Ballistic Armor</a:t>
            </a:r>
            <a:br/>
            <a:r>
              <a:t>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A8A8"/>
                </a:solidFill>
                <a:latin typeface="Calibri"/>
              </a:defRPr>
            </a:pPr>
            <a:r>
              <a:t>B2B manufacturer serving law enforcement. Products ship to agencies through uniform dealer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4F0"/>
                </a:solidFill>
                <a:latin typeface="Calibri"/>
              </a:defRPr>
            </a:pPr>
            <a:r>
              <a:t>8,250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Sales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0175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154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4F0"/>
                </a:solidFill>
                <a:latin typeface="Calibri"/>
              </a:defRPr>
            </a:pPr>
            <a:r>
              <a:t>104K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MOs 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30175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154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4F0"/>
                </a:solidFill>
                <a:latin typeface="Calibri"/>
              </a:defRPr>
            </a:pPr>
            <a:r>
              <a:t>2,300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Active MOs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0175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154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4F0"/>
                </a:solidFill>
                <a:latin typeface="Calibri"/>
              </a:defRPr>
            </a:pPr>
            <a:r>
              <a:t>1,132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SKUs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01 //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Odoo 18</a:t>
            </a:r>
            <a:br/>
            <a:r>
              <a:t>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8A8"/>
                </a:solidFill>
                <a:latin typeface="Calibri"/>
              </a:defRPr>
            </a:pPr>
            <a:r>
              <a:t>Every sale auto-generates a draft Manufacturing Order via custom module. Each order line is one piece of armor, fully spec'd through product variant attributes.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8872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4F0"/>
                          </a:solidFill>
                          <a:latin typeface="Calibri"/>
                        </a:defRPr>
                      </a:pPr>
                      <a:r>
                        <a:t>Order Line Field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4F0"/>
                          </a:solidFill>
                          <a:latin typeface="Calibri"/>
                        </a:defRPr>
                      </a:pPr>
                      <a:r>
                        <a:t>What It Stores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Product + Variant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Carrier/panel type + size + color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size field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Officer name + dealer + fit date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Front/Back Size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Torso size: SM → 3XL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Front/Back Length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Height adj: +0 → +3 in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Width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Lateral adj: 0 → +2 in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is_mto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Always True — Make to Order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02 //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2 Hours.</a:t>
            </a:r>
            <a:br/>
            <a:r>
              <a:t>Every Night.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8A8"/>
                </a:solidFill>
                <a:latin typeface="Calibri"/>
              </a:defRPr>
            </a:pPr>
            <a:r>
              <a:t>Javier Rocha reads POs from emails at 8–10 PM, manually translating each dealer's format into Odoo line items. Recently lost 4 staff, replaced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Three incompatible formats
</a:t>
            </a:r>
            <a:r>
              <a:rPr sz="1000">
                <a:solidFill>
                  <a:srgbClr val="666666"/>
                </a:solidFill>
                <a:latin typeface="Calibri"/>
              </a:rPr>
              <a:t>Premier, T&amp;T, and Read's each send POs in a completely different format with different measurement conventions.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Manual SKU translation
</a:t>
            </a:r>
            <a:r>
              <a:rPr sz="1000">
                <a:solidFill>
                  <a:srgbClr val="666666"/>
                </a:solidFill>
                <a:latin typeface="Calibri"/>
              </a:rPr>
              <a:t>Dealer product names don't match Onyx's internal Odoo SKUs. Javier maps them from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No buffer, no audit trail
</a:t>
            </a:r>
            <a:r>
              <a:rPr sz="1000">
                <a:solidFill>
                  <a:srgbClr val="666666"/>
                </a:solidFill>
                <a:latin typeface="Calibri"/>
              </a:rPr>
              <a:t>One missed line item means a wrong order ships. No history of what was entered, when, or by whom.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Error risk compounds at volume
</a:t>
            </a:r>
            <a:r>
              <a:rPr sz="1000">
                <a:solidFill>
                  <a:srgbClr val="666666"/>
                </a:solidFill>
                <a:latin typeface="Calibri"/>
              </a:rPr>
              <a:t>~90% of orders flow through 3 dealers. Batch POs (13+ officers) are entirely manual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02 // DEALERS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Three Channels,</a:t>
            </a:r>
            <a:br/>
            <a:r>
              <a:t>Three Formats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0"/>
                </a:solidFill>
                <a:latin typeface="Calibri"/>
              </a:defRPr>
            </a:pPr>
            <a:r>
              <a:t>Premier Body Armor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Fishbowl Inventory — structured PO PDF. Two types: bulk stock replenishment and custom per-officer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02 //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Every Dealer</a:t>
            </a:r>
            <a:br/>
            <a:r>
              <a:t>Speaks a Different</a:t>
            </a:r>
            <a:br/>
            <a:r>
              <a:t>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8A8"/>
                </a:solidFill>
                <a:latin typeface="Calibri"/>
              </a:defRPr>
            </a:pPr>
            <a:r>
              <a:t>Same piece of armor, three measurement systems. Javier carries the conversion logic entirely in his 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38100" cy="731520"/>
          </a:xfrm>
          <a:prstGeom prst="rect">
            <a:avLst/>
          </a:prstGeom>
          <a:solidFill>
            <a:srgbClr val="7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Panel sizing math varies too: T&amp;T panel = seated − 1"; back = standing × 0.80. Premier provides computed Onyx sizes directly when available.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1887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4F0"/>
                          </a:solidFill>
                          <a:latin typeface="Calibri"/>
                        </a:defRPr>
                      </a:pPr>
                      <a:r>
                        <a:t>Dealer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4F0"/>
                          </a:solidFill>
                          <a:latin typeface="Calibri"/>
                        </a:defRPr>
                      </a:pPr>
                      <a:r>
                        <a:t>Front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4F0"/>
                          </a:solidFill>
                          <a:latin typeface="Calibri"/>
                        </a:defRPr>
                      </a:pPr>
                      <a:r>
                        <a:t>Back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4F0"/>
                          </a:solidFill>
                          <a:latin typeface="Calibri"/>
                        </a:defRPr>
                      </a:pPr>
                      <a:r>
                        <a:t>Waist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Premier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Size name</a:t>
                      </a:r>
                    </a:p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XL +2 Long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Size name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Not given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Standing in.</a:t>
                      </a:r>
                    </a:p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16 (standing)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Standing in.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Waist in.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Read's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Sitting in.</a:t>
                      </a:r>
                    </a:p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14 (sitting)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Standing in.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Girth + overlap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03 //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F4F0"/>
                </a:solidFill>
                <a:latin typeface="Calibri"/>
              </a:defRPr>
            </a:pPr>
            <a:r>
              <a:t>What We're Building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03 //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Before &amp;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5B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Javier reads emails 8–10 PM nightly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Manually opens each PDF, decodes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Translates dealer SKUs from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Converts raw measurements per dealer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Types each line item into Odoo manually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~2 hours every working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Email arrives → pipeline triggers instantly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PDF parsed + structured by Claude Haiku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035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SKUs mapped automatically (85%+ confidence)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446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Raw measurements stored alongside parsed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858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Javier reviews queue, approves, CSV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72694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A8A8"/>
                </a:solidFill>
                <a:latin typeface="Calibri"/>
              </a:defRPr>
            </a:pPr>
            <a:r>
              <a:t>• ~15 min Day 1 → ~5 min over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03 //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Pipeline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725912" cy="5029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8FA8"/>
                </a:solidFill>
                <a:latin typeface="Calibri"/>
              </a:defRPr>
            </a:pPr>
            <a:r>
              <a:t>orders@onyxarmor.com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67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677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Gmail Pub/Sub Webhook — real-time push, no polling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725912" cy="5029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8FA8"/>
                </a:solidFill>
                <a:latin typeface="Calibri"/>
              </a:defRPr>
            </a:pPr>
            <a:r>
              <a:t>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620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8620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Domain whitelist → ORDER / NOISE / UNKNOWN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10725912" cy="5029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8FA8"/>
                </a:solidFill>
                <a:latin typeface="Calibri"/>
              </a:defRPr>
            </a:pPr>
            <a:r>
              <a:t>PDF Extractor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564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4564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pdfplumber (digital) or Mistral OCR (scanned fallback)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40"/>
            <a:ext cx="10725912" cy="5029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50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8FA8"/>
                </a:solidFill>
                <a:latin typeface="Calibri"/>
              </a:defRPr>
            </a:pPr>
            <a:r>
              <a:t>LLM Structurer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50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050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Claude Haiku 3.5 → structured OrderRaw JSON via instructor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10725912" cy="5029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45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8FA8"/>
                </a:solidFill>
                <a:latin typeface="Calibri"/>
              </a:defRPr>
            </a:pPr>
            <a:r>
              <a:t>SKU Mapper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645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6451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Exact → RapidFuzz (≥85 auto, 60–84 suggest) → resolution queue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66360"/>
            <a:ext cx="10725912" cy="5029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39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8FA8"/>
                </a:solidFill>
                <a:latin typeface="Calibri"/>
              </a:defRPr>
            </a:pPr>
            <a:r>
              <a:t>Review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239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2395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Javier approves → Odoo-compatible CSV exported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03 // OCR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Hybrid PDF</a:t>
            </a:r>
            <a:br/>
            <a:r>
              <a:t>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8A8"/>
                </a:solidFill>
                <a:latin typeface="Calibri"/>
              </a:defRPr>
            </a:pPr>
            <a:r>
              <a:t>All current dealer PDFs are digital (text-layer). Mistral OCR is wired in as a fallback — triggered only when no text layer is detected.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38100" cy="731520"/>
          </a:xfrm>
          <a:prstGeom prst="rect">
            <a:avLst/>
          </a:prstGeom>
          <a:solidFill>
            <a:srgbClr val="7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Cost at current volume: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8A8A8"/>
                </a:solidFill>
                <a:latin typeface="Calibri"/>
              </a:defRPr>
            </a:pPr>
            <a:r>
              <a:t>Purpose-built for documents — preserves column layout and table structure as 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8A8A8"/>
                </a:solidFill>
                <a:latin typeface="Calibri"/>
              </a:defRPr>
            </a:pPr>
            <a:r>
              <a:t>Flat per-page rate vs. per-token cost (cheaper on dense scanned pages)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8A8A8"/>
                </a:solidFill>
                <a:latin typeface="Calibri"/>
              </a:defRPr>
            </a:pPr>
            <a:r>
              <a:t>Better upstream structure = less correction work for Claude downstream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03 //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What the System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0"/>
                </a:solidFill>
                <a:latin typeface="Calibri"/>
              </a:defRPr>
            </a:pPr>
            <a:r>
              <a:t>AI-Powered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Claude Haiku reads raw PDF text and outputs a structured JSON order — PO number, officer names, products, measurements, shipping address.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04 //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Technology</a:t>
            </a:r>
            <a:br/>
            <a:r>
              <a:t>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8A8"/>
                </a:solidFill>
                <a:latin typeface="Calibri"/>
              </a:defRPr>
            </a:pPr>
            <a:r>
              <a:t>Everything is customer-owned, self-hosted, and transferable. No vendor lock-in beyond commodity API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38100" cy="731520"/>
          </a:xfrm>
          <a:prstGeom prst="rect">
            <a:avLst/>
          </a:prstGeom>
          <a:solidFill>
            <a:srgbClr val="7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Total monthly cost post-handover:</a:t>
            </a:r>
            <a:br/>
            <a:r>
              <a:t>Hetzner CX32 (~€7) + Claude Haiku (~$4) + Mistral OCR fallback (~$0–3) = ~€11–14/month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188720"/>
          <a:ext cx="5029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4F0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4F0"/>
                          </a:solidFill>
                          <a:latin typeface="Calibri"/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API + UI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FastAPI + HTMX + Jinja2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Scheduling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APScheduler v4 + PostgreSQL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PDF (digital)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pdfplumber — free, local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PDF (scanned)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Mistral OCR API — fallback only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Claude Haiku 3.5 + instructor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SKU matching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RapidFuzz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PostgreSQL (Docker)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Hetzner CX32 — customer-owned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Coolify — GUI, auto SSL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Email trigger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8A8A8"/>
                          </a:solidFill>
                          <a:latin typeface="Calibri"/>
                        </a:defRPr>
                      </a:pPr>
                      <a:r>
                        <a:t>Gmail Pub/Sub webhook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05 //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Six Sprints to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06 //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Designed In,</a:t>
            </a:r>
            <a:br/>
            <a:r>
              <a:t>Not Built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8A8"/>
                </a:solidFill>
                <a:latin typeface="Calibri"/>
              </a:defRPr>
            </a:pPr>
            <a:r>
              <a:t>The schema and abstractions for Phase 2 are wired into Phase 1 from day one — no rework needed to activate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Odoo Direct API Push
</a:t>
            </a:r>
            <a:r>
              <a:rPr sz="1000">
                <a:solidFill>
                  <a:srgbClr val="666666"/>
                </a:solidFill>
                <a:latin typeface="Calibri"/>
              </a:rPr>
              <a:t>Replace CSV export with XMLRPC/REST push directly into Odoo. odoo_sync_log table already in schema.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Sizing Pipeline
</a:t>
            </a:r>
            <a:r>
              <a:rPr sz="1000">
                <a:solidFill>
                  <a:srgbClr val="666666"/>
                </a:solidFill>
                <a:latin typeface="Calibri"/>
              </a:rPr>
              <a:t>Route sizing form attachments (separate PDFs) through a dedicated path. Pattern match on filename.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Multi-User Auth
</a:t>
            </a:r>
            <a:r>
              <a:rPr sz="1000">
                <a:solidFill>
                  <a:srgbClr val="666666"/>
                </a:solidFill>
                <a:latin typeface="Calibri"/>
              </a:rPr>
              <a:t>approved_by is freetext in Phase 1 — swap in a users FK when staff expands.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Per-Client LLM Model
</a:t>
            </a:r>
            <a:r>
              <a:rPr sz="1000">
                <a:solidFill>
                  <a:srgbClr val="666666"/>
                </a:solidFill>
                <a:latin typeface="Calibri"/>
              </a:rPr>
              <a:t>Abstraction in extract_order() allows swapping vision models for clients who send scanned PDFs.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A8A8"/>
                </a:solidFill>
                <a:latin typeface="Georgia"/>
              </a:defRPr>
            </a:pPr>
            <a:r>
              <a:t>Onyx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5912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07 //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4F0"/>
                </a:solidFill>
                <a:latin typeface="Calibri"/>
              </a:defRPr>
            </a:pPr>
            <a:r>
              <a:t>Fully</a:t>
            </a:r>
            <a:br/>
            <a:r>
              <a:t>Customer-Owned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8A8"/>
                </a:solidFill>
                <a:latin typeface="Calibri"/>
              </a:defRPr>
            </a:pPr>
            <a:r>
              <a:t>On final payment, every key, account, and credential transfers to Onyx Armor. No ongoing dependency on the builder.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38100" cy="731520"/>
          </a:xfrm>
          <a:prstGeom prst="rect">
            <a:avLst/>
          </a:prstGeom>
          <a:solidFill>
            <a:srgbClr val="7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A8A8"/>
                </a:solidFill>
                <a:latin typeface="Calibri"/>
              </a:defRPr>
            </a:pPr>
            <a:r>
              <a:t>Path B available: service access only while on payment plan. All Path A transfers trigger on final payment.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Hetzner VPS
</a:t>
            </a:r>
            <a:r>
              <a:rPr sz="1000">
                <a:solidFill>
                  <a:srgbClr val="666666"/>
                </a:solidFill>
                <a:latin typeface="Calibri"/>
              </a:rPr>
              <a:t>— transferred to Onyx Armor's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Anthropic API key
</a:t>
            </a:r>
            <a:r>
              <a:rPr sz="1000">
                <a:solidFill>
                  <a:srgbClr val="666666"/>
                </a:solidFill>
                <a:latin typeface="Calibri"/>
              </a:rPr>
              <a:t>— Onyx Armor's own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Google Cloud Pub/Sub
</a:t>
            </a:r>
            <a:r>
              <a:rPr sz="1000">
                <a:solidFill>
                  <a:srgbClr val="666666"/>
                </a:solidFill>
                <a:latin typeface="Calibri"/>
              </a:rPr>
              <a:t>— transferred, Gmail OAuth re-authed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Coolify
</a:t>
            </a:r>
            <a:r>
              <a:rPr sz="1000">
                <a:solidFill>
                  <a:srgbClr val="666666"/>
                </a:solidFill>
                <a:latin typeface="Calibri"/>
              </a:rPr>
              <a:t>— Javier redeploys from Git via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97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Portainer
</a:t>
            </a:r>
            <a:r>
              <a:rPr sz="1000">
                <a:solidFill>
                  <a:srgbClr val="666666"/>
                </a:solidFill>
                <a:latin typeface="Calibri"/>
              </a:rPr>
              <a:t>— Javier restarts containers, views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74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RUNBOOK.md
</a:t>
            </a:r>
            <a:r>
              <a:rPr sz="1000">
                <a:solidFill>
                  <a:srgbClr val="666666"/>
                </a:solidFill>
                <a:latin typeface="Calibri"/>
              </a:rPr>
              <a:t>— start/stop, backup restore, migration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852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F4F0"/>
                </a:solidFill>
                <a:latin typeface="Calibri"/>
              </a:rPr>
              <a:t>Sign-off test
</a:t>
            </a:r>
            <a:r>
              <a:rPr sz="1000">
                <a:solidFill>
                  <a:srgbClr val="666666"/>
                </a:solidFill>
                <a:latin typeface="Calibri"/>
              </a:rPr>
              <a:t>— real PO email → parsed → approved → CSV in Odoo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8FA8"/>
                </a:solidFill>
                <a:latin typeface="Calibri"/>
              </a:defRPr>
            </a:pPr>
            <a:r>
              <a:t>LET'S BUILD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F4F0"/>
                </a:solidFill>
                <a:latin typeface="Calibri"/>
              </a:defRPr>
            </a:pPr>
            <a:r>
              <a:t>From 2 Hours</a:t>
            </a:r>
            <a:br/>
            <a:r>
              <a:t>to 15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A8A8"/>
                </a:solidFill>
                <a:latin typeface="Calibri"/>
              </a:defRPr>
            </a:pPr>
            <a:r>
              <a:t>Phase 1 puts Javier in the reviewer seat, not the data-entry seat. Phase 2 puts Odoo on autopilot.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7548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5120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carlos@autonomee.ai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7548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Ops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5120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jrocha@onyxarmor.com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7548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Monthly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120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8FA8"/>
                </a:solidFill>
                <a:latin typeface="Calibri"/>
              </a:defRPr>
            </a:pPr>
            <a:r>
              <a:t>~€11–14 / 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